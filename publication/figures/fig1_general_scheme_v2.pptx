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483350" cy="5403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A5D"/>
    <a:srgbClr val="FDAE74"/>
    <a:srgbClr val="FAC783"/>
    <a:srgbClr val="F6DC8B"/>
    <a:srgbClr val="F0F283"/>
    <a:srgbClr val="CC79A7"/>
    <a:srgbClr val="0172B3"/>
    <a:srgbClr val="009E73"/>
    <a:srgbClr val="E69F00"/>
    <a:srgbClr val="55B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98"/>
    <p:restoredTop sz="94770"/>
  </p:normalViewPr>
  <p:slideViewPr>
    <p:cSldViewPr snapToGrid="0">
      <p:cViewPr>
        <p:scale>
          <a:sx n="230" d="100"/>
          <a:sy n="230" d="100"/>
        </p:scale>
        <p:origin x="2504" y="-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251" y="884381"/>
            <a:ext cx="5510848" cy="1881340"/>
          </a:xfrm>
        </p:spPr>
        <p:txBody>
          <a:bodyPr anchor="b"/>
          <a:lstStyle>
            <a:lvl1pPr algn="ctr">
              <a:defRPr sz="42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419" y="2838273"/>
            <a:ext cx="4862513" cy="1304679"/>
          </a:xfrm>
        </p:spPr>
        <p:txBody>
          <a:bodyPr/>
          <a:lstStyle>
            <a:lvl1pPr marL="0" indent="0" algn="ctr">
              <a:buNone/>
              <a:defRPr sz="1702"/>
            </a:lvl1pPr>
            <a:lvl2pPr marL="324155" indent="0" algn="ctr">
              <a:buNone/>
              <a:defRPr sz="1418"/>
            </a:lvl2pPr>
            <a:lvl3pPr marL="648310" indent="0" algn="ctr">
              <a:buNone/>
              <a:defRPr sz="1276"/>
            </a:lvl3pPr>
            <a:lvl4pPr marL="972464" indent="0" algn="ctr">
              <a:buNone/>
              <a:defRPr sz="1134"/>
            </a:lvl4pPr>
            <a:lvl5pPr marL="1296619" indent="0" algn="ctr">
              <a:buNone/>
              <a:defRPr sz="1134"/>
            </a:lvl5pPr>
            <a:lvl6pPr marL="1620774" indent="0" algn="ctr">
              <a:buNone/>
              <a:defRPr sz="1134"/>
            </a:lvl6pPr>
            <a:lvl7pPr marL="1944929" indent="0" algn="ctr">
              <a:buNone/>
              <a:defRPr sz="1134"/>
            </a:lvl7pPr>
            <a:lvl8pPr marL="2269084" indent="0" algn="ctr">
              <a:buNone/>
              <a:defRPr sz="1134"/>
            </a:lvl8pPr>
            <a:lvl9pPr marL="2593238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9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0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354" y="1347211"/>
            <a:ext cx="5591889" cy="2247851"/>
          </a:xfrm>
        </p:spPr>
        <p:txBody>
          <a:bodyPr anchor="b"/>
          <a:lstStyle>
            <a:lvl1pPr>
              <a:defRPr sz="42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354" y="3616328"/>
            <a:ext cx="5591889" cy="1182092"/>
          </a:xfrm>
        </p:spPr>
        <p:txBody>
          <a:bodyPr/>
          <a:lstStyle>
            <a:lvl1pPr marL="0" indent="0">
              <a:buNone/>
              <a:defRPr sz="1702">
                <a:solidFill>
                  <a:schemeClr val="tx1">
                    <a:tint val="82000"/>
                  </a:schemeClr>
                </a:solidFill>
              </a:defRPr>
            </a:lvl1pPr>
            <a:lvl2pPr marL="324155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2pPr>
            <a:lvl3pPr marL="648310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46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619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77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929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908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323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730" y="1438525"/>
            <a:ext cx="2755424" cy="3428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2196" y="1438525"/>
            <a:ext cx="2755424" cy="3428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1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287706"/>
            <a:ext cx="5591889" cy="1044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575" y="1324694"/>
            <a:ext cx="2742761" cy="649212"/>
          </a:xfrm>
        </p:spPr>
        <p:txBody>
          <a:bodyPr anchor="b"/>
          <a:lstStyle>
            <a:lvl1pPr marL="0" indent="0">
              <a:buNone/>
              <a:defRPr sz="1702" b="1"/>
            </a:lvl1pPr>
            <a:lvl2pPr marL="324155" indent="0">
              <a:buNone/>
              <a:defRPr sz="1418" b="1"/>
            </a:lvl2pPr>
            <a:lvl3pPr marL="648310" indent="0">
              <a:buNone/>
              <a:defRPr sz="1276" b="1"/>
            </a:lvl3pPr>
            <a:lvl4pPr marL="972464" indent="0">
              <a:buNone/>
              <a:defRPr sz="1134" b="1"/>
            </a:lvl4pPr>
            <a:lvl5pPr marL="1296619" indent="0">
              <a:buNone/>
              <a:defRPr sz="1134" b="1"/>
            </a:lvl5pPr>
            <a:lvl6pPr marL="1620774" indent="0">
              <a:buNone/>
              <a:defRPr sz="1134" b="1"/>
            </a:lvl6pPr>
            <a:lvl7pPr marL="1944929" indent="0">
              <a:buNone/>
              <a:defRPr sz="1134" b="1"/>
            </a:lvl7pPr>
            <a:lvl8pPr marL="2269084" indent="0">
              <a:buNone/>
              <a:defRPr sz="1134" b="1"/>
            </a:lvl8pPr>
            <a:lvl9pPr marL="2593238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575" y="1973906"/>
            <a:ext cx="2742761" cy="2903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2196" y="1324694"/>
            <a:ext cx="2756268" cy="649212"/>
          </a:xfrm>
        </p:spPr>
        <p:txBody>
          <a:bodyPr anchor="b"/>
          <a:lstStyle>
            <a:lvl1pPr marL="0" indent="0">
              <a:buNone/>
              <a:defRPr sz="1702" b="1"/>
            </a:lvl1pPr>
            <a:lvl2pPr marL="324155" indent="0">
              <a:buNone/>
              <a:defRPr sz="1418" b="1"/>
            </a:lvl2pPr>
            <a:lvl3pPr marL="648310" indent="0">
              <a:buNone/>
              <a:defRPr sz="1276" b="1"/>
            </a:lvl3pPr>
            <a:lvl4pPr marL="972464" indent="0">
              <a:buNone/>
              <a:defRPr sz="1134" b="1"/>
            </a:lvl4pPr>
            <a:lvl5pPr marL="1296619" indent="0">
              <a:buNone/>
              <a:defRPr sz="1134" b="1"/>
            </a:lvl5pPr>
            <a:lvl6pPr marL="1620774" indent="0">
              <a:buNone/>
              <a:defRPr sz="1134" b="1"/>
            </a:lvl6pPr>
            <a:lvl7pPr marL="1944929" indent="0">
              <a:buNone/>
              <a:defRPr sz="1134" b="1"/>
            </a:lvl7pPr>
            <a:lvl8pPr marL="2269084" indent="0">
              <a:buNone/>
              <a:defRPr sz="1134" b="1"/>
            </a:lvl8pPr>
            <a:lvl9pPr marL="2593238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2196" y="1973906"/>
            <a:ext cx="2756268" cy="2903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9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0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2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360257"/>
            <a:ext cx="2091049" cy="1260898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6268" y="778056"/>
            <a:ext cx="3282196" cy="3840236"/>
          </a:xfrm>
        </p:spPr>
        <p:txBody>
          <a:bodyPr/>
          <a:lstStyle>
            <a:lvl1pPr>
              <a:defRPr sz="2269"/>
            </a:lvl1pPr>
            <a:lvl2pPr>
              <a:defRPr sz="1985"/>
            </a:lvl2pPr>
            <a:lvl3pPr>
              <a:defRPr sz="1702"/>
            </a:lvl3pPr>
            <a:lvl4pPr>
              <a:defRPr sz="1418"/>
            </a:lvl4pPr>
            <a:lvl5pPr>
              <a:defRPr sz="1418"/>
            </a:lvl5pPr>
            <a:lvl6pPr>
              <a:defRPr sz="1418"/>
            </a:lvl6pPr>
            <a:lvl7pPr>
              <a:defRPr sz="1418"/>
            </a:lvl7pPr>
            <a:lvl8pPr>
              <a:defRPr sz="1418"/>
            </a:lvl8pPr>
            <a:lvl9pPr>
              <a:defRPr sz="14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575" y="1621155"/>
            <a:ext cx="2091049" cy="3003390"/>
          </a:xfrm>
        </p:spPr>
        <p:txBody>
          <a:bodyPr/>
          <a:lstStyle>
            <a:lvl1pPr marL="0" indent="0">
              <a:buNone/>
              <a:defRPr sz="1134"/>
            </a:lvl1pPr>
            <a:lvl2pPr marL="324155" indent="0">
              <a:buNone/>
              <a:defRPr sz="993"/>
            </a:lvl2pPr>
            <a:lvl3pPr marL="648310" indent="0">
              <a:buNone/>
              <a:defRPr sz="851"/>
            </a:lvl3pPr>
            <a:lvl4pPr marL="972464" indent="0">
              <a:buNone/>
              <a:defRPr sz="709"/>
            </a:lvl4pPr>
            <a:lvl5pPr marL="1296619" indent="0">
              <a:buNone/>
              <a:defRPr sz="709"/>
            </a:lvl5pPr>
            <a:lvl6pPr marL="1620774" indent="0">
              <a:buNone/>
              <a:defRPr sz="709"/>
            </a:lvl6pPr>
            <a:lvl7pPr marL="1944929" indent="0">
              <a:buNone/>
              <a:defRPr sz="709"/>
            </a:lvl7pPr>
            <a:lvl8pPr marL="2269084" indent="0">
              <a:buNone/>
              <a:defRPr sz="709"/>
            </a:lvl8pPr>
            <a:lvl9pPr marL="2593238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9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360257"/>
            <a:ext cx="2091049" cy="1260898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6268" y="778056"/>
            <a:ext cx="3282196" cy="3840236"/>
          </a:xfrm>
        </p:spPr>
        <p:txBody>
          <a:bodyPr anchor="t"/>
          <a:lstStyle>
            <a:lvl1pPr marL="0" indent="0">
              <a:buNone/>
              <a:defRPr sz="2269"/>
            </a:lvl1pPr>
            <a:lvl2pPr marL="324155" indent="0">
              <a:buNone/>
              <a:defRPr sz="1985"/>
            </a:lvl2pPr>
            <a:lvl3pPr marL="648310" indent="0">
              <a:buNone/>
              <a:defRPr sz="1702"/>
            </a:lvl3pPr>
            <a:lvl4pPr marL="972464" indent="0">
              <a:buNone/>
              <a:defRPr sz="1418"/>
            </a:lvl4pPr>
            <a:lvl5pPr marL="1296619" indent="0">
              <a:buNone/>
              <a:defRPr sz="1418"/>
            </a:lvl5pPr>
            <a:lvl6pPr marL="1620774" indent="0">
              <a:buNone/>
              <a:defRPr sz="1418"/>
            </a:lvl6pPr>
            <a:lvl7pPr marL="1944929" indent="0">
              <a:buNone/>
              <a:defRPr sz="1418"/>
            </a:lvl7pPr>
            <a:lvl8pPr marL="2269084" indent="0">
              <a:buNone/>
              <a:defRPr sz="1418"/>
            </a:lvl8pPr>
            <a:lvl9pPr marL="2593238" indent="0">
              <a:buNone/>
              <a:defRPr sz="14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575" y="1621155"/>
            <a:ext cx="2091049" cy="3003390"/>
          </a:xfrm>
        </p:spPr>
        <p:txBody>
          <a:bodyPr/>
          <a:lstStyle>
            <a:lvl1pPr marL="0" indent="0">
              <a:buNone/>
              <a:defRPr sz="1134"/>
            </a:lvl1pPr>
            <a:lvl2pPr marL="324155" indent="0">
              <a:buNone/>
              <a:defRPr sz="993"/>
            </a:lvl2pPr>
            <a:lvl3pPr marL="648310" indent="0">
              <a:buNone/>
              <a:defRPr sz="851"/>
            </a:lvl3pPr>
            <a:lvl4pPr marL="972464" indent="0">
              <a:buNone/>
              <a:defRPr sz="709"/>
            </a:lvl4pPr>
            <a:lvl5pPr marL="1296619" indent="0">
              <a:buNone/>
              <a:defRPr sz="709"/>
            </a:lvl5pPr>
            <a:lvl6pPr marL="1620774" indent="0">
              <a:buNone/>
              <a:defRPr sz="709"/>
            </a:lvl6pPr>
            <a:lvl7pPr marL="1944929" indent="0">
              <a:buNone/>
              <a:defRPr sz="709"/>
            </a:lvl7pPr>
            <a:lvl8pPr marL="2269084" indent="0">
              <a:buNone/>
              <a:defRPr sz="709"/>
            </a:lvl8pPr>
            <a:lvl9pPr marL="2593238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8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9648" y="287705"/>
            <a:ext cx="1397972" cy="45795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731" y="287705"/>
            <a:ext cx="4112875" cy="45795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731" y="287706"/>
            <a:ext cx="5591889" cy="1044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731" y="1438525"/>
            <a:ext cx="5591889" cy="342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730" y="5008570"/>
            <a:ext cx="1458754" cy="2877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7610" y="5008570"/>
            <a:ext cx="2188131" cy="2877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8866" y="5008570"/>
            <a:ext cx="1458754" cy="2877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6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48310" rtl="0" eaLnBrk="1" latinLnBrk="0" hangingPunct="1">
        <a:lnSpc>
          <a:spcPct val="90000"/>
        </a:lnSpc>
        <a:spcBef>
          <a:spcPct val="0"/>
        </a:spcBef>
        <a:buNone/>
        <a:defRPr sz="3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77" indent="-162077" algn="l" defTabSz="648310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486232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702" kern="1200">
          <a:solidFill>
            <a:schemeClr val="tx1"/>
          </a:solidFill>
          <a:latin typeface="+mn-lt"/>
          <a:ea typeface="+mn-ea"/>
          <a:cs typeface="+mn-cs"/>
        </a:defRPr>
      </a:lvl2pPr>
      <a:lvl3pPr marL="810387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134542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697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851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7006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1161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5316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155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310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46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619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77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929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908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3238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0330E1-E233-5B8B-3FF3-B24DAEBD42C5}"/>
              </a:ext>
            </a:extLst>
          </p:cNvPr>
          <p:cNvSpPr/>
          <p:nvPr/>
        </p:nvSpPr>
        <p:spPr>
          <a:xfrm>
            <a:off x="261929" y="307530"/>
            <a:ext cx="926193" cy="454676"/>
          </a:xfrm>
          <a:prstGeom prst="roundRect">
            <a:avLst>
              <a:gd name="adj" fmla="val 8854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DA431EB-5E70-5DD3-89B4-B71226E7DAB9}"/>
              </a:ext>
            </a:extLst>
          </p:cNvPr>
          <p:cNvSpPr/>
          <p:nvPr/>
        </p:nvSpPr>
        <p:spPr>
          <a:xfrm>
            <a:off x="1473903" y="307530"/>
            <a:ext cx="926193" cy="454676"/>
          </a:xfrm>
          <a:prstGeom prst="roundRect">
            <a:avLst>
              <a:gd name="adj" fmla="val 8854"/>
            </a:avLst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82F073-AD63-0CC5-CA03-39DB4D3BE4FA}"/>
              </a:ext>
            </a:extLst>
          </p:cNvPr>
          <p:cNvSpPr/>
          <p:nvPr/>
        </p:nvSpPr>
        <p:spPr>
          <a:xfrm>
            <a:off x="2685879" y="307530"/>
            <a:ext cx="926193" cy="454676"/>
          </a:xfrm>
          <a:prstGeom prst="roundRect">
            <a:avLst>
              <a:gd name="adj" fmla="val 8854"/>
            </a:avLst>
          </a:prstGeom>
          <a:solidFill>
            <a:schemeClr val="tx2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CA8B3-630C-DB05-0534-3A8F47832D5F}"/>
              </a:ext>
            </a:extLst>
          </p:cNvPr>
          <p:cNvSpPr txBox="1"/>
          <p:nvPr/>
        </p:nvSpPr>
        <p:spPr>
          <a:xfrm>
            <a:off x="428382" y="373169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React 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8F6D3E-A963-B151-88CF-DFC6943CCD49}"/>
              </a:ext>
            </a:extLst>
          </p:cNvPr>
          <p:cNvSpPr txBox="1"/>
          <p:nvPr/>
        </p:nvSpPr>
        <p:spPr>
          <a:xfrm>
            <a:off x="1658720" y="373169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33604-BCBD-50F3-8D5C-59A3E91B7C96}"/>
              </a:ext>
            </a:extLst>
          </p:cNvPr>
          <p:cNvSpPr txBox="1"/>
          <p:nvPr/>
        </p:nvSpPr>
        <p:spPr>
          <a:xfrm>
            <a:off x="2780601" y="373169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FastMCP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Tool Server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CEA606-A2AC-0ADA-B668-E07556952ED6}"/>
              </a:ext>
            </a:extLst>
          </p:cNvPr>
          <p:cNvSpPr/>
          <p:nvPr/>
        </p:nvSpPr>
        <p:spPr>
          <a:xfrm>
            <a:off x="1473903" y="1049888"/>
            <a:ext cx="421088" cy="344600"/>
          </a:xfrm>
          <a:prstGeom prst="roundRect">
            <a:avLst>
              <a:gd name="adj" fmla="val 885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E97138D-E5D2-444C-D8E6-9A999785CEA8}"/>
              </a:ext>
            </a:extLst>
          </p:cNvPr>
          <p:cNvSpPr/>
          <p:nvPr/>
        </p:nvSpPr>
        <p:spPr>
          <a:xfrm>
            <a:off x="5586555" y="960264"/>
            <a:ext cx="781646" cy="755011"/>
          </a:xfrm>
          <a:prstGeom prst="roundRect">
            <a:avLst>
              <a:gd name="adj" fmla="val 8854"/>
            </a:avLst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F6DD8DD-1434-FEFA-578E-385E47468D8F}"/>
              </a:ext>
            </a:extLst>
          </p:cNvPr>
          <p:cNvSpPr/>
          <p:nvPr/>
        </p:nvSpPr>
        <p:spPr>
          <a:xfrm>
            <a:off x="4268942" y="307530"/>
            <a:ext cx="1711034" cy="377506"/>
          </a:xfrm>
          <a:prstGeom prst="roundRect">
            <a:avLst>
              <a:gd name="adj" fmla="val 8854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933A21C-EE77-989E-2026-965031B94BBC}"/>
              </a:ext>
            </a:extLst>
          </p:cNvPr>
          <p:cNvSpPr/>
          <p:nvPr/>
        </p:nvSpPr>
        <p:spPr>
          <a:xfrm>
            <a:off x="4268942" y="2003976"/>
            <a:ext cx="1711034" cy="377506"/>
          </a:xfrm>
          <a:prstGeom prst="roundRect">
            <a:avLst>
              <a:gd name="adj" fmla="val 8854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51CD28C-36CD-B8E9-E0EE-82347775BB64}"/>
              </a:ext>
            </a:extLst>
          </p:cNvPr>
          <p:cNvSpPr/>
          <p:nvPr/>
        </p:nvSpPr>
        <p:spPr>
          <a:xfrm>
            <a:off x="152474" y="2897426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0F2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8040296-4D3D-1D83-E4C4-35C249316C6D}"/>
              </a:ext>
            </a:extLst>
          </p:cNvPr>
          <p:cNvSpPr/>
          <p:nvPr/>
        </p:nvSpPr>
        <p:spPr>
          <a:xfrm>
            <a:off x="1465446" y="3543723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6DC8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6EE40DB-A019-5600-E1FB-A4D3D2F96392}"/>
              </a:ext>
            </a:extLst>
          </p:cNvPr>
          <p:cNvSpPr/>
          <p:nvPr/>
        </p:nvSpPr>
        <p:spPr>
          <a:xfrm>
            <a:off x="2790627" y="3543868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AC7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AAFEBBC-AEF3-3AD2-6842-616F93BA9912}"/>
              </a:ext>
            </a:extLst>
          </p:cNvPr>
          <p:cNvSpPr/>
          <p:nvPr/>
        </p:nvSpPr>
        <p:spPr>
          <a:xfrm>
            <a:off x="4106391" y="2897426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DAE7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0BF8C3A-F45B-10F1-34E2-5F70275DFB3A}"/>
              </a:ext>
            </a:extLst>
          </p:cNvPr>
          <p:cNvSpPr/>
          <p:nvPr/>
        </p:nvSpPr>
        <p:spPr>
          <a:xfrm>
            <a:off x="5433463" y="2897426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F9A5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02D90FA-9129-1E3D-DA01-EBCA84622DCE}"/>
              </a:ext>
            </a:extLst>
          </p:cNvPr>
          <p:cNvSpPr/>
          <p:nvPr/>
        </p:nvSpPr>
        <p:spPr>
          <a:xfrm>
            <a:off x="1466283" y="2894977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6DC8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9D2656B-755F-ED62-2574-E4ED1E5AD5E3}"/>
              </a:ext>
            </a:extLst>
          </p:cNvPr>
          <p:cNvSpPr/>
          <p:nvPr/>
        </p:nvSpPr>
        <p:spPr>
          <a:xfrm>
            <a:off x="2778893" y="2894977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AC7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BD0B6F2-6525-9349-DB21-A5DC93C66EE3}"/>
              </a:ext>
            </a:extLst>
          </p:cNvPr>
          <p:cNvSpPr/>
          <p:nvPr/>
        </p:nvSpPr>
        <p:spPr>
          <a:xfrm>
            <a:off x="4106391" y="3541382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DAE7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40E897A-11FF-5610-B221-A40109999DCF}"/>
              </a:ext>
            </a:extLst>
          </p:cNvPr>
          <p:cNvSpPr/>
          <p:nvPr/>
        </p:nvSpPr>
        <p:spPr>
          <a:xfrm>
            <a:off x="5430652" y="3541382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F9A5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B79EB6A-7408-1A1A-35A6-8A0CF461C7FD}"/>
              </a:ext>
            </a:extLst>
          </p:cNvPr>
          <p:cNvSpPr/>
          <p:nvPr/>
        </p:nvSpPr>
        <p:spPr>
          <a:xfrm>
            <a:off x="4106391" y="4185338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DAE7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AC4C025-730C-0A02-952B-785D5FE000AA}"/>
              </a:ext>
            </a:extLst>
          </p:cNvPr>
          <p:cNvSpPr/>
          <p:nvPr/>
        </p:nvSpPr>
        <p:spPr>
          <a:xfrm>
            <a:off x="5451106" y="4185338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F9A5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502F7F0-5E21-07FC-506F-7C41BE5BA709}"/>
              </a:ext>
            </a:extLst>
          </p:cNvPr>
          <p:cNvSpPr/>
          <p:nvPr/>
        </p:nvSpPr>
        <p:spPr>
          <a:xfrm>
            <a:off x="152472" y="4883458"/>
            <a:ext cx="6215729" cy="320310"/>
          </a:xfrm>
          <a:prstGeom prst="roundRect">
            <a:avLst>
              <a:gd name="adj" fmla="val 8854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7789D66-3201-C25E-B60E-3EA30A91C60C}"/>
              </a:ext>
            </a:extLst>
          </p:cNvPr>
          <p:cNvSpPr/>
          <p:nvPr/>
        </p:nvSpPr>
        <p:spPr>
          <a:xfrm>
            <a:off x="1980954" y="1049888"/>
            <a:ext cx="421088" cy="344600"/>
          </a:xfrm>
          <a:prstGeom prst="roundRect">
            <a:avLst>
              <a:gd name="adj" fmla="val 885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25DF5DB-0F3C-C51B-1864-304524E30195}"/>
              </a:ext>
            </a:extLst>
          </p:cNvPr>
          <p:cNvSpPr/>
          <p:nvPr/>
        </p:nvSpPr>
        <p:spPr>
          <a:xfrm>
            <a:off x="2698709" y="1049888"/>
            <a:ext cx="421088" cy="344600"/>
          </a:xfrm>
          <a:prstGeom prst="roundRect">
            <a:avLst>
              <a:gd name="adj" fmla="val 885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5D2B214-7018-1F61-C5F7-ABEBAFB9F80F}"/>
              </a:ext>
            </a:extLst>
          </p:cNvPr>
          <p:cNvSpPr/>
          <p:nvPr/>
        </p:nvSpPr>
        <p:spPr>
          <a:xfrm>
            <a:off x="3205760" y="1049888"/>
            <a:ext cx="421088" cy="344600"/>
          </a:xfrm>
          <a:prstGeom prst="roundRect">
            <a:avLst>
              <a:gd name="adj" fmla="val 885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5C0BFA-1E4E-85DB-F8EC-4C2F3935DF8E}"/>
              </a:ext>
            </a:extLst>
          </p:cNvPr>
          <p:cNvCxnSpPr>
            <a:cxnSpLocks/>
          </p:cNvCxnSpPr>
          <p:nvPr/>
        </p:nvCxnSpPr>
        <p:spPr>
          <a:xfrm>
            <a:off x="1222978" y="534868"/>
            <a:ext cx="2098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A3C5C6-730A-809A-BC8A-204408356A6B}"/>
              </a:ext>
            </a:extLst>
          </p:cNvPr>
          <p:cNvCxnSpPr>
            <a:cxnSpLocks/>
          </p:cNvCxnSpPr>
          <p:nvPr/>
        </p:nvCxnSpPr>
        <p:spPr>
          <a:xfrm>
            <a:off x="2434952" y="534868"/>
            <a:ext cx="2079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9515441-B0A9-2207-FB05-734044627C3C}"/>
              </a:ext>
            </a:extLst>
          </p:cNvPr>
          <p:cNvCxnSpPr>
            <a:cxnSpLocks/>
            <a:stCxn id="13" idx="0"/>
            <a:endCxn id="8" idx="2"/>
          </p:cNvCxnSpPr>
          <p:nvPr/>
        </p:nvCxnSpPr>
        <p:spPr>
          <a:xfrm flipV="1">
            <a:off x="1684448" y="762206"/>
            <a:ext cx="252553" cy="2876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256AA45-15CA-29B4-8DEA-D2D11E62A1CB}"/>
              </a:ext>
            </a:extLst>
          </p:cNvPr>
          <p:cNvCxnSpPr>
            <a:stCxn id="43" idx="0"/>
            <a:endCxn id="8" idx="2"/>
          </p:cNvCxnSpPr>
          <p:nvPr/>
        </p:nvCxnSpPr>
        <p:spPr>
          <a:xfrm flipH="1" flipV="1">
            <a:off x="1937000" y="762206"/>
            <a:ext cx="254498" cy="2876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F86AE70-C132-3DAA-6C67-46C8E9960DDF}"/>
              </a:ext>
            </a:extLst>
          </p:cNvPr>
          <p:cNvCxnSpPr>
            <a:cxnSpLocks/>
            <a:stCxn id="44" idx="0"/>
            <a:endCxn id="9" idx="2"/>
          </p:cNvCxnSpPr>
          <p:nvPr/>
        </p:nvCxnSpPr>
        <p:spPr>
          <a:xfrm flipV="1">
            <a:off x="2909254" y="762206"/>
            <a:ext cx="239721" cy="2876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8E52460-F831-9838-E49F-38E46EC88ED3}"/>
              </a:ext>
            </a:extLst>
          </p:cNvPr>
          <p:cNvCxnSpPr>
            <a:stCxn id="45" idx="0"/>
            <a:endCxn id="9" idx="2"/>
          </p:cNvCxnSpPr>
          <p:nvPr/>
        </p:nvCxnSpPr>
        <p:spPr>
          <a:xfrm flipH="1" flipV="1">
            <a:off x="3148974" y="762206"/>
            <a:ext cx="267330" cy="2876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5B28616-8B05-609C-A46C-0BB12B6A1EF3}"/>
              </a:ext>
            </a:extLst>
          </p:cNvPr>
          <p:cNvCxnSpPr>
            <a:cxnSpLocks/>
          </p:cNvCxnSpPr>
          <p:nvPr/>
        </p:nvCxnSpPr>
        <p:spPr>
          <a:xfrm>
            <a:off x="1114160" y="3124764"/>
            <a:ext cx="3264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7B03AF7-E92A-6312-347A-3515EDA99490}"/>
              </a:ext>
            </a:extLst>
          </p:cNvPr>
          <p:cNvCxnSpPr>
            <a:cxnSpLocks/>
          </p:cNvCxnSpPr>
          <p:nvPr/>
        </p:nvCxnSpPr>
        <p:spPr>
          <a:xfrm>
            <a:off x="2425198" y="3124764"/>
            <a:ext cx="3148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A5A6D9D-A3B9-A091-0C79-B1B1E5B6CF05}"/>
              </a:ext>
            </a:extLst>
          </p:cNvPr>
          <p:cNvCxnSpPr>
            <a:cxnSpLocks/>
          </p:cNvCxnSpPr>
          <p:nvPr/>
        </p:nvCxnSpPr>
        <p:spPr>
          <a:xfrm>
            <a:off x="3744107" y="3124764"/>
            <a:ext cx="3322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10D8E0B-9104-144C-8D73-E453D14D67CC}"/>
              </a:ext>
            </a:extLst>
          </p:cNvPr>
          <p:cNvCxnSpPr>
            <a:cxnSpLocks/>
          </p:cNvCxnSpPr>
          <p:nvPr/>
        </p:nvCxnSpPr>
        <p:spPr>
          <a:xfrm>
            <a:off x="5069843" y="3124764"/>
            <a:ext cx="324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194EC09-4DA3-8453-E830-6E94061821FE}"/>
              </a:ext>
            </a:extLst>
          </p:cNvPr>
          <p:cNvCxnSpPr>
            <a:cxnSpLocks/>
          </p:cNvCxnSpPr>
          <p:nvPr/>
        </p:nvCxnSpPr>
        <p:spPr>
          <a:xfrm>
            <a:off x="1108682" y="3167643"/>
            <a:ext cx="324166" cy="496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5A03810-D737-C634-E7EA-E444E632E438}"/>
              </a:ext>
            </a:extLst>
          </p:cNvPr>
          <p:cNvCxnSpPr>
            <a:cxnSpLocks/>
          </p:cNvCxnSpPr>
          <p:nvPr/>
        </p:nvCxnSpPr>
        <p:spPr>
          <a:xfrm flipV="1">
            <a:off x="3744628" y="3184027"/>
            <a:ext cx="330417" cy="5503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4F873B4-3825-6E8B-9E5C-FF04D6EDEFD1}"/>
              </a:ext>
            </a:extLst>
          </p:cNvPr>
          <p:cNvCxnSpPr>
            <a:cxnSpLocks/>
          </p:cNvCxnSpPr>
          <p:nvPr/>
        </p:nvCxnSpPr>
        <p:spPr>
          <a:xfrm>
            <a:off x="5078419" y="4412676"/>
            <a:ext cx="3292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988352B-4633-67F0-6263-4327267E3C9A}"/>
              </a:ext>
            </a:extLst>
          </p:cNvPr>
          <p:cNvCxnSpPr>
            <a:cxnSpLocks/>
          </p:cNvCxnSpPr>
          <p:nvPr/>
        </p:nvCxnSpPr>
        <p:spPr>
          <a:xfrm>
            <a:off x="4266371" y="4024462"/>
            <a:ext cx="0" cy="1437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089D470-100B-92F0-9DED-3FE06E6BBCEF}"/>
              </a:ext>
            </a:extLst>
          </p:cNvPr>
          <p:cNvSpPr txBox="1"/>
          <p:nvPr/>
        </p:nvSpPr>
        <p:spPr>
          <a:xfrm>
            <a:off x="4634087" y="398296"/>
            <a:ext cx="9781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Generated Answer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AF726BD-657A-33BD-3F5F-0A641B07EEF4}"/>
              </a:ext>
            </a:extLst>
          </p:cNvPr>
          <p:cNvSpPr txBox="1"/>
          <p:nvPr/>
        </p:nvSpPr>
        <p:spPr>
          <a:xfrm>
            <a:off x="3878119" y="996193"/>
            <a:ext cx="77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Deterministic 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Metric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B02AD78-7B33-1AEC-2207-AD91E4D08E59}"/>
              </a:ext>
            </a:extLst>
          </p:cNvPr>
          <p:cNvSpPr txBox="1"/>
          <p:nvPr/>
        </p:nvSpPr>
        <p:spPr>
          <a:xfrm>
            <a:off x="4791925" y="998746"/>
            <a:ext cx="6624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LLM Judge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2E43D5F-8AF5-FAE2-93AF-0992961ED940}"/>
              </a:ext>
            </a:extLst>
          </p:cNvPr>
          <p:cNvSpPr txBox="1"/>
          <p:nvPr/>
        </p:nvSpPr>
        <p:spPr>
          <a:xfrm>
            <a:off x="5555337" y="1005985"/>
            <a:ext cx="83430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MiniCheck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NLI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715DA86-7F54-D658-6F57-6412F5FF2F83}"/>
              </a:ext>
            </a:extLst>
          </p:cNvPr>
          <p:cNvSpPr txBox="1"/>
          <p:nvPr/>
        </p:nvSpPr>
        <p:spPr>
          <a:xfrm>
            <a:off x="4303156" y="2041128"/>
            <a:ext cx="1640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Rankings converge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Per-answer verdicts diverge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84500E7-491C-B072-EC7A-D686C849A9D9}"/>
              </a:ext>
            </a:extLst>
          </p:cNvPr>
          <p:cNvSpPr txBox="1"/>
          <p:nvPr/>
        </p:nvSpPr>
        <p:spPr>
          <a:xfrm>
            <a:off x="1449968" y="1058251"/>
            <a:ext cx="453121" cy="3231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err="1"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endParaRPr lang="en-US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Local LLM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6103F76-77D1-5E2A-607C-E4B231F9DBF1}"/>
              </a:ext>
            </a:extLst>
          </p:cNvPr>
          <p:cNvSpPr txBox="1"/>
          <p:nvPr/>
        </p:nvSpPr>
        <p:spPr>
          <a:xfrm>
            <a:off x="1959106" y="1058251"/>
            <a:ext cx="468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Gemini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Cloud API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AB6A9C9-35F9-DE79-ADF5-225818210A04}"/>
              </a:ext>
            </a:extLst>
          </p:cNvPr>
          <p:cNvSpPr txBox="1"/>
          <p:nvPr/>
        </p:nvSpPr>
        <p:spPr>
          <a:xfrm>
            <a:off x="2673530" y="1058251"/>
            <a:ext cx="464499" cy="3231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err="1">
                <a:latin typeface="Arial" panose="020B0604020202020204" pitchFamily="34" charset="0"/>
                <a:cs typeface="Arial" panose="020B0604020202020204" pitchFamily="34" charset="0"/>
              </a:rPr>
              <a:t>ChromaDB</a:t>
            </a:r>
            <a:endParaRPr lang="en-US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8846EFA-DC69-7AA7-0C7A-4C094E2286C3}"/>
              </a:ext>
            </a:extLst>
          </p:cNvPr>
          <p:cNvSpPr txBox="1"/>
          <p:nvPr/>
        </p:nvSpPr>
        <p:spPr>
          <a:xfrm>
            <a:off x="3193140" y="1058251"/>
            <a:ext cx="4461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Metadata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35D1427-7226-89CC-C944-6157B02A982D}"/>
              </a:ext>
            </a:extLst>
          </p:cNvPr>
          <p:cNvSpPr txBox="1"/>
          <p:nvPr/>
        </p:nvSpPr>
        <p:spPr>
          <a:xfrm>
            <a:off x="3884888" y="1251023"/>
            <a:ext cx="768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Concept recall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Semantic similarity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vs expert ground truth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EE0E45B-3AAC-F144-F596-8752FB8ABA29}"/>
              </a:ext>
            </a:extLst>
          </p:cNvPr>
          <p:cNvSpPr txBox="1"/>
          <p:nvPr/>
        </p:nvSpPr>
        <p:spPr>
          <a:xfrm>
            <a:off x="4725568" y="1251023"/>
            <a:ext cx="8240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Correctness, Completeness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Faithfulness, Citations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7CCDD3C-0949-8875-E054-D2831D734CF6}"/>
              </a:ext>
            </a:extLst>
          </p:cNvPr>
          <p:cNvSpPr txBox="1"/>
          <p:nvPr/>
        </p:nvSpPr>
        <p:spPr>
          <a:xfrm>
            <a:off x="5560226" y="1251023"/>
            <a:ext cx="8240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Claim-level entailment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Precision, Recall 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vs 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expert reference answer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F74A0B4-AF21-43CE-8EDC-247009EB98E0}"/>
              </a:ext>
            </a:extLst>
          </p:cNvPr>
          <p:cNvSpPr txBox="1"/>
          <p:nvPr/>
        </p:nvSpPr>
        <p:spPr>
          <a:xfrm>
            <a:off x="25565" y="84376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821B1EF-8DCC-C392-3CD6-7F376773447E}"/>
              </a:ext>
            </a:extLst>
          </p:cNvPr>
          <p:cNvSpPr txBox="1"/>
          <p:nvPr/>
        </p:nvSpPr>
        <p:spPr>
          <a:xfrm>
            <a:off x="3774123" y="84376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443C2-C433-ED01-05DC-7AAE52A71AEA}"/>
              </a:ext>
            </a:extLst>
          </p:cNvPr>
          <p:cNvSpPr txBox="1"/>
          <p:nvPr/>
        </p:nvSpPr>
        <p:spPr>
          <a:xfrm>
            <a:off x="25565" y="2591033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2EA3274-B7B7-F589-2749-743F292D68DD}"/>
              </a:ext>
            </a:extLst>
          </p:cNvPr>
          <p:cNvSpPr txBox="1"/>
          <p:nvPr/>
        </p:nvSpPr>
        <p:spPr>
          <a:xfrm>
            <a:off x="152472" y="29401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Evaluation Corpus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F072846-CD65-B923-60DD-A24019B0C49B}"/>
              </a:ext>
            </a:extLst>
          </p:cNvPr>
          <p:cNvSpPr txBox="1"/>
          <p:nvPr/>
        </p:nvSpPr>
        <p:spPr>
          <a:xfrm>
            <a:off x="1470579" y="3586401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Retrieval Optimization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D3B072A-B506-23A8-613D-189A3C2E06F5}"/>
              </a:ext>
            </a:extLst>
          </p:cNvPr>
          <p:cNvSpPr txBox="1"/>
          <p:nvPr/>
        </p:nvSpPr>
        <p:spPr>
          <a:xfrm>
            <a:off x="2800892" y="3586546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Generation Strategy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7064948-9798-7185-B48F-F981BC56931F}"/>
              </a:ext>
            </a:extLst>
          </p:cNvPr>
          <p:cNvSpPr txBox="1"/>
          <p:nvPr/>
        </p:nvSpPr>
        <p:spPr>
          <a:xfrm>
            <a:off x="4121792" y="29401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Corpus Scaling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23A7415-91F6-1D6D-DA68-E4B78E08AEDB}"/>
              </a:ext>
            </a:extLst>
          </p:cNvPr>
          <p:cNvSpPr txBox="1"/>
          <p:nvPr/>
        </p:nvSpPr>
        <p:spPr>
          <a:xfrm>
            <a:off x="5453997" y="29401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Strategy Replication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FD9F0BA-AC2F-8489-46BC-297470C87FFC}"/>
              </a:ext>
            </a:extLst>
          </p:cNvPr>
          <p:cNvSpPr txBox="1"/>
          <p:nvPr/>
        </p:nvSpPr>
        <p:spPr>
          <a:xfrm>
            <a:off x="1483928" y="29385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Model Selection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0C23FF0-D760-CC56-8570-A2A6E47B02CC}"/>
              </a:ext>
            </a:extLst>
          </p:cNvPr>
          <p:cNvSpPr txBox="1"/>
          <p:nvPr/>
        </p:nvSpPr>
        <p:spPr>
          <a:xfrm>
            <a:off x="2785828" y="29385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Depth Saturation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4F82858-B8AB-DABF-BF85-4B3625B83666}"/>
              </a:ext>
            </a:extLst>
          </p:cNvPr>
          <p:cNvSpPr txBox="1"/>
          <p:nvPr/>
        </p:nvSpPr>
        <p:spPr>
          <a:xfrm>
            <a:off x="4102620" y="3584909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Pipeline Ablation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639E15D-1D04-1C02-8050-4B1D4183B0DB}"/>
              </a:ext>
            </a:extLst>
          </p:cNvPr>
          <p:cNvSpPr txBox="1"/>
          <p:nvPr/>
        </p:nvSpPr>
        <p:spPr>
          <a:xfrm>
            <a:off x="4106392" y="4239006"/>
            <a:ext cx="9378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Component Benchmark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9A0B10A-EA0B-6AA1-7A13-0F13C615B5FB}"/>
              </a:ext>
            </a:extLst>
          </p:cNvPr>
          <p:cNvSpPr txBox="1"/>
          <p:nvPr/>
        </p:nvSpPr>
        <p:spPr>
          <a:xfrm>
            <a:off x="5418981" y="3584909"/>
            <a:ext cx="9378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Code Generation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5A2367D-4924-F838-5C65-665EFFF26FEA}"/>
              </a:ext>
            </a:extLst>
          </p:cNvPr>
          <p:cNvSpPr txBox="1"/>
          <p:nvPr/>
        </p:nvSpPr>
        <p:spPr>
          <a:xfrm>
            <a:off x="5445270" y="4239006"/>
            <a:ext cx="9378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Distiller Ablation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669E3ED-FDE8-CC7F-A697-5FDDAE070661}"/>
              </a:ext>
            </a:extLst>
          </p:cNvPr>
          <p:cNvSpPr txBox="1"/>
          <p:nvPr/>
        </p:nvSpPr>
        <p:spPr>
          <a:xfrm>
            <a:off x="97799" y="4874632"/>
            <a:ext cx="63158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37,449 evaluations across a 200-paper corpus, 250 questions, 11 experiments in 2 task domains (QA + code generation) </a:t>
            </a:r>
          </a:p>
          <a:p>
            <a:pPr algn="ctr"/>
            <a:r>
              <a:rPr lang="en-US" sz="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+ 8,132 judge-calibration scores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8B6CA3A-4B8A-2330-8291-26939329B280}"/>
              </a:ext>
            </a:extLst>
          </p:cNvPr>
          <p:cNvSpPr txBox="1"/>
          <p:nvPr/>
        </p:nvSpPr>
        <p:spPr>
          <a:xfrm>
            <a:off x="265688" y="2720833"/>
            <a:ext cx="6997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F5A62EB-F466-A857-05B8-528D25B97ECB}"/>
              </a:ext>
            </a:extLst>
          </p:cNvPr>
          <p:cNvSpPr txBox="1"/>
          <p:nvPr/>
        </p:nvSpPr>
        <p:spPr>
          <a:xfrm>
            <a:off x="1573178" y="2720832"/>
            <a:ext cx="6997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Foundation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3D0DCB6-0AB1-1184-EDBE-2E1E8DCE7D9D}"/>
              </a:ext>
            </a:extLst>
          </p:cNvPr>
          <p:cNvSpPr txBox="1"/>
          <p:nvPr/>
        </p:nvSpPr>
        <p:spPr>
          <a:xfrm>
            <a:off x="2806404" y="2720833"/>
            <a:ext cx="90820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Core Comparison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0D652FE-97FD-D5BD-50E2-AD649C097F08}"/>
              </a:ext>
            </a:extLst>
          </p:cNvPr>
          <p:cNvSpPr txBox="1"/>
          <p:nvPr/>
        </p:nvSpPr>
        <p:spPr>
          <a:xfrm>
            <a:off x="4143628" y="2720832"/>
            <a:ext cx="85551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Scale + Ablation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B8F3740-72F4-2B2D-456A-02B4AE624A1D}"/>
              </a:ext>
            </a:extLst>
          </p:cNvPr>
          <p:cNvSpPr txBox="1"/>
          <p:nvPr/>
        </p:nvSpPr>
        <p:spPr>
          <a:xfrm>
            <a:off x="5543867" y="2720832"/>
            <a:ext cx="6997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DF6B4-6CD9-58CD-7406-7DC9216E4CA2}"/>
              </a:ext>
            </a:extLst>
          </p:cNvPr>
          <p:cNvSpPr txBox="1"/>
          <p:nvPr/>
        </p:nvSpPr>
        <p:spPr>
          <a:xfrm>
            <a:off x="186222" y="3073409"/>
            <a:ext cx="8572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200 scientific papers 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250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88230-1B90-78F9-7CAD-CB464F9B9C84}"/>
              </a:ext>
            </a:extLst>
          </p:cNvPr>
          <p:cNvSpPr txBox="1"/>
          <p:nvPr/>
        </p:nvSpPr>
        <p:spPr>
          <a:xfrm>
            <a:off x="1529256" y="3694448"/>
            <a:ext cx="8223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Chunking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D72AF-31AA-260B-2297-1A0C272D730B}"/>
              </a:ext>
            </a:extLst>
          </p:cNvPr>
          <p:cNvSpPr txBox="1"/>
          <p:nvPr/>
        </p:nvSpPr>
        <p:spPr>
          <a:xfrm>
            <a:off x="1523083" y="3056844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16 gen + 19 judge candidates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670B5-067F-3412-5F5C-9FF68FFB8620}"/>
              </a:ext>
            </a:extLst>
          </p:cNvPr>
          <p:cNvSpPr txBox="1"/>
          <p:nvPr/>
        </p:nvSpPr>
        <p:spPr>
          <a:xfrm>
            <a:off x="2849540" y="3719851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6 strategies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138 questions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B68A15-0B83-6C1D-E6B9-D6EB58CC9126}"/>
              </a:ext>
            </a:extLst>
          </p:cNvPr>
          <p:cNvSpPr txBox="1"/>
          <p:nvPr/>
        </p:nvSpPr>
        <p:spPr>
          <a:xfrm>
            <a:off x="2839950" y="3056844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9 models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10 depths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718FA-2BB8-18DF-637F-5DAF2AA75C4C}"/>
              </a:ext>
            </a:extLst>
          </p:cNvPr>
          <p:cNvSpPr txBox="1"/>
          <p:nvPr/>
        </p:nvSpPr>
        <p:spPr>
          <a:xfrm>
            <a:off x="4160409" y="3073409"/>
            <a:ext cx="8223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4 sizes x 3 noise ratios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78CFA-BEC1-2A0E-AE9F-B35FDB15D755}"/>
              </a:ext>
            </a:extLst>
          </p:cNvPr>
          <p:cNvSpPr txBox="1"/>
          <p:nvPr/>
        </p:nvSpPr>
        <p:spPr>
          <a:xfrm>
            <a:off x="4171708" y="370324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4 additive configurations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DA6926-F9EC-6BFD-D591-BA1799B0B37D}"/>
              </a:ext>
            </a:extLst>
          </p:cNvPr>
          <p:cNvSpPr txBox="1"/>
          <p:nvPr/>
        </p:nvSpPr>
        <p:spPr>
          <a:xfrm>
            <a:off x="4158323" y="4363315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5 components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16 models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0844DF-C45A-3BD3-E14B-E71D0AD73BD9}"/>
              </a:ext>
            </a:extLst>
          </p:cNvPr>
          <p:cNvSpPr txBox="1"/>
          <p:nvPr/>
        </p:nvSpPr>
        <p:spPr>
          <a:xfrm>
            <a:off x="5482583" y="307340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122B + 30B models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3 strategies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3AF247-8FB2-5148-2465-9BD7012A82FE}"/>
              </a:ext>
            </a:extLst>
          </p:cNvPr>
          <p:cNvSpPr txBox="1"/>
          <p:nvPr/>
        </p:nvSpPr>
        <p:spPr>
          <a:xfrm>
            <a:off x="5503037" y="370324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15 variants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11 strategies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680718-C683-D157-9F9A-9346A97520CF}"/>
              </a:ext>
            </a:extLst>
          </p:cNvPr>
          <p:cNvSpPr txBox="1"/>
          <p:nvPr/>
        </p:nvSpPr>
        <p:spPr>
          <a:xfrm>
            <a:off x="5482583" y="4363315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7 variants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6 models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C82508-B8F6-8A70-BE02-AD9A87B5D139}"/>
              </a:ext>
            </a:extLst>
          </p:cNvPr>
          <p:cNvSpPr txBox="1"/>
          <p:nvPr/>
        </p:nvSpPr>
        <p:spPr>
          <a:xfrm>
            <a:off x="1484156" y="3998399"/>
            <a:ext cx="90553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ED Fig. 1 – Evals:2,336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16C445-A9BC-A9D1-564D-CA80FCF1DF69}"/>
              </a:ext>
            </a:extLst>
          </p:cNvPr>
          <p:cNvSpPr txBox="1"/>
          <p:nvPr/>
        </p:nvSpPr>
        <p:spPr>
          <a:xfrm>
            <a:off x="2688086" y="3998544"/>
            <a:ext cx="102666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2 | ED Fig. 2  – Evals:828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C0D6CE-9940-2538-2D78-015DD2384664}"/>
              </a:ext>
            </a:extLst>
          </p:cNvPr>
          <p:cNvSpPr txBox="1"/>
          <p:nvPr/>
        </p:nvSpPr>
        <p:spPr>
          <a:xfrm>
            <a:off x="2789157" y="3353190"/>
            <a:ext cx="91592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3a-c – Evals:1,682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66920D-ABB9-C27A-9D08-BE31567D09E4}"/>
              </a:ext>
            </a:extLst>
          </p:cNvPr>
          <p:cNvSpPr txBox="1"/>
          <p:nvPr/>
        </p:nvSpPr>
        <p:spPr>
          <a:xfrm>
            <a:off x="4129737" y="3352102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3d-f – Evals:9,894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94025E-04FA-D34F-CFAB-FD9E0A28967A}"/>
              </a:ext>
            </a:extLst>
          </p:cNvPr>
          <p:cNvSpPr txBox="1"/>
          <p:nvPr/>
        </p:nvSpPr>
        <p:spPr>
          <a:xfrm>
            <a:off x="4266372" y="3999595"/>
            <a:ext cx="778694" cy="16927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4a-c – Evals:552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679E9C-0CA5-6122-9949-1FA520088031}"/>
              </a:ext>
            </a:extLst>
          </p:cNvPr>
          <p:cNvSpPr txBox="1"/>
          <p:nvPr/>
        </p:nvSpPr>
        <p:spPr>
          <a:xfrm>
            <a:off x="3906680" y="4642660"/>
            <a:ext cx="112641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4d | ED Fig. 4 – Evals:13,312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34A8B1-6819-5D9B-9B20-81544F294293}"/>
              </a:ext>
            </a:extLst>
          </p:cNvPr>
          <p:cNvSpPr txBox="1"/>
          <p:nvPr/>
        </p:nvSpPr>
        <p:spPr>
          <a:xfrm>
            <a:off x="5470217" y="4642660"/>
            <a:ext cx="89436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ED Fig. 5 – Evals:4,171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8EF05A-397C-09A3-C773-681C993C0B78}"/>
              </a:ext>
            </a:extLst>
          </p:cNvPr>
          <p:cNvSpPr txBox="1"/>
          <p:nvPr/>
        </p:nvSpPr>
        <p:spPr>
          <a:xfrm>
            <a:off x="5463493" y="3999595"/>
            <a:ext cx="8933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6 – Evals:3,300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DCBD8C-ECB5-51CC-EA3F-D6FF70897F18}"/>
              </a:ext>
            </a:extLst>
          </p:cNvPr>
          <p:cNvSpPr txBox="1"/>
          <p:nvPr/>
        </p:nvSpPr>
        <p:spPr>
          <a:xfrm>
            <a:off x="5463493" y="3352102"/>
            <a:ext cx="8933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ED Fig. 3 – Evals:828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047FC9E-0540-6A08-C76C-C83C1F84258B}"/>
              </a:ext>
            </a:extLst>
          </p:cNvPr>
          <p:cNvSpPr/>
          <p:nvPr/>
        </p:nvSpPr>
        <p:spPr>
          <a:xfrm>
            <a:off x="3878119" y="960264"/>
            <a:ext cx="781646" cy="755011"/>
          </a:xfrm>
          <a:prstGeom prst="roundRect">
            <a:avLst>
              <a:gd name="adj" fmla="val 8854"/>
            </a:avLst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FC7603E-D79F-61C1-81EA-498C3B179F02}"/>
              </a:ext>
            </a:extLst>
          </p:cNvPr>
          <p:cNvSpPr/>
          <p:nvPr/>
        </p:nvSpPr>
        <p:spPr>
          <a:xfrm>
            <a:off x="4732337" y="960264"/>
            <a:ext cx="781646" cy="755011"/>
          </a:xfrm>
          <a:prstGeom prst="roundRect">
            <a:avLst>
              <a:gd name="adj" fmla="val 8854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D5E87C7-E2E8-0935-5DB9-B50D4A209341}"/>
              </a:ext>
            </a:extLst>
          </p:cNvPr>
          <p:cNvCxnSpPr>
            <a:cxnSpLocks/>
          </p:cNvCxnSpPr>
          <p:nvPr/>
        </p:nvCxnSpPr>
        <p:spPr>
          <a:xfrm flipH="1">
            <a:off x="4335916" y="723381"/>
            <a:ext cx="344836" cy="187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B3DD010-9496-8358-78D4-9829A1437ED9}"/>
              </a:ext>
            </a:extLst>
          </p:cNvPr>
          <p:cNvCxnSpPr>
            <a:cxnSpLocks/>
          </p:cNvCxnSpPr>
          <p:nvPr/>
        </p:nvCxnSpPr>
        <p:spPr>
          <a:xfrm>
            <a:off x="5124459" y="728361"/>
            <a:ext cx="0" cy="1975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38957F3-D12F-96DE-D754-15BF72BE03F6}"/>
              </a:ext>
            </a:extLst>
          </p:cNvPr>
          <p:cNvCxnSpPr>
            <a:cxnSpLocks/>
          </p:cNvCxnSpPr>
          <p:nvPr/>
        </p:nvCxnSpPr>
        <p:spPr>
          <a:xfrm>
            <a:off x="5564646" y="723381"/>
            <a:ext cx="344802" cy="1975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2878B97-B36D-35A7-6715-CA08E00A03FE}"/>
              </a:ext>
            </a:extLst>
          </p:cNvPr>
          <p:cNvCxnSpPr>
            <a:cxnSpLocks/>
          </p:cNvCxnSpPr>
          <p:nvPr/>
        </p:nvCxnSpPr>
        <p:spPr>
          <a:xfrm>
            <a:off x="4310524" y="1755365"/>
            <a:ext cx="313657" cy="1951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9CB9298-36C4-6C8C-7619-716C71C8EB04}"/>
              </a:ext>
            </a:extLst>
          </p:cNvPr>
          <p:cNvCxnSpPr>
            <a:cxnSpLocks/>
          </p:cNvCxnSpPr>
          <p:nvPr/>
        </p:nvCxnSpPr>
        <p:spPr>
          <a:xfrm>
            <a:off x="5123160" y="1768812"/>
            <a:ext cx="0" cy="2100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CD99B7A-1DB3-C601-78BE-AF758B1F1DF3}"/>
              </a:ext>
            </a:extLst>
          </p:cNvPr>
          <p:cNvCxnSpPr>
            <a:cxnSpLocks/>
          </p:cNvCxnSpPr>
          <p:nvPr/>
        </p:nvCxnSpPr>
        <p:spPr>
          <a:xfrm flipH="1">
            <a:off x="5549955" y="1755364"/>
            <a:ext cx="390823" cy="2001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2A5336C-2657-F195-8835-7A0D900DF244}"/>
              </a:ext>
            </a:extLst>
          </p:cNvPr>
          <p:cNvSpPr txBox="1"/>
          <p:nvPr/>
        </p:nvSpPr>
        <p:spPr>
          <a:xfrm>
            <a:off x="5204151" y="2384229"/>
            <a:ext cx="781646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5 | ED Fig. 6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29814D-1D5C-25E2-AB7D-84B9F2C398E4}"/>
              </a:ext>
            </a:extLst>
          </p:cNvPr>
          <p:cNvSpPr/>
          <p:nvPr/>
        </p:nvSpPr>
        <p:spPr>
          <a:xfrm>
            <a:off x="261930" y="1649631"/>
            <a:ext cx="3393234" cy="803903"/>
          </a:xfrm>
          <a:prstGeom prst="roundRect">
            <a:avLst>
              <a:gd name="adj" fmla="val 8730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4DCBD7-45CD-A53E-1231-A320B1355E1C}"/>
              </a:ext>
            </a:extLst>
          </p:cNvPr>
          <p:cNvSpPr/>
          <p:nvPr/>
        </p:nvSpPr>
        <p:spPr>
          <a:xfrm>
            <a:off x="361070" y="1952305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55B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7A8EB10-288D-C469-9772-883D01B4033E}"/>
              </a:ext>
            </a:extLst>
          </p:cNvPr>
          <p:cNvSpPr txBox="1"/>
          <p:nvPr/>
        </p:nvSpPr>
        <p:spPr>
          <a:xfrm>
            <a:off x="334074" y="1996936"/>
            <a:ext cx="53110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Analyser</a:t>
            </a:r>
            <a:endParaRPr lang="en-US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F13B02F-9D65-9C5D-7662-044C119AC0BA}"/>
              </a:ext>
            </a:extLst>
          </p:cNvPr>
          <p:cNvSpPr/>
          <p:nvPr/>
        </p:nvSpPr>
        <p:spPr>
          <a:xfrm>
            <a:off x="997421" y="1952305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E69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8EE37F6-BE8C-197E-0CA4-21FC48FF29C3}"/>
              </a:ext>
            </a:extLst>
          </p:cNvPr>
          <p:cNvSpPr txBox="1"/>
          <p:nvPr/>
        </p:nvSpPr>
        <p:spPr>
          <a:xfrm>
            <a:off x="985624" y="1996936"/>
            <a:ext cx="4770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Planner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7FB6AEB-F0B9-2AB8-5080-76BE778EC75D}"/>
              </a:ext>
            </a:extLst>
          </p:cNvPr>
          <p:cNvSpPr/>
          <p:nvPr/>
        </p:nvSpPr>
        <p:spPr>
          <a:xfrm>
            <a:off x="3090121" y="1952305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CC7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84ED170-B2BF-598B-E00C-FC5CB43FBE9D}"/>
              </a:ext>
            </a:extLst>
          </p:cNvPr>
          <p:cNvSpPr txBox="1"/>
          <p:nvPr/>
        </p:nvSpPr>
        <p:spPr>
          <a:xfrm>
            <a:off x="3009330" y="1992632"/>
            <a:ext cx="63615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Synthesiser</a:t>
            </a:r>
            <a:endParaRPr lang="en-US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FD07FF4-2B47-2B52-9F82-B0ABDDF40C0C}"/>
              </a:ext>
            </a:extLst>
          </p:cNvPr>
          <p:cNvSpPr txBox="1"/>
          <p:nvPr/>
        </p:nvSpPr>
        <p:spPr>
          <a:xfrm>
            <a:off x="246290" y="1455257"/>
            <a:ext cx="121743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Mentor::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Orchestrator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832CC48-FC3F-6854-C3B3-55AF8DD49D77}"/>
              </a:ext>
            </a:extLst>
          </p:cNvPr>
          <p:cNvSpPr/>
          <p:nvPr/>
        </p:nvSpPr>
        <p:spPr>
          <a:xfrm>
            <a:off x="1725595" y="2041069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009E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ABAC35D-C301-4B81-E88C-72A1E9F87DFC}"/>
              </a:ext>
            </a:extLst>
          </p:cNvPr>
          <p:cNvSpPr/>
          <p:nvPr/>
        </p:nvSpPr>
        <p:spPr>
          <a:xfrm>
            <a:off x="2391019" y="2041069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0172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8AA8325-E8D0-2E15-394F-5414CAFC98EE}"/>
              </a:ext>
            </a:extLst>
          </p:cNvPr>
          <p:cNvCxnSpPr>
            <a:cxnSpLocks/>
          </p:cNvCxnSpPr>
          <p:nvPr/>
        </p:nvCxnSpPr>
        <p:spPr>
          <a:xfrm>
            <a:off x="2224596" y="2179296"/>
            <a:ext cx="14650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E4C7DC6-05DF-5500-788B-F614CB89DF05}"/>
              </a:ext>
            </a:extLst>
          </p:cNvPr>
          <p:cNvSpPr txBox="1"/>
          <p:nvPr/>
        </p:nvSpPr>
        <p:spPr>
          <a:xfrm>
            <a:off x="1703109" y="2086560"/>
            <a:ext cx="50099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Distiller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0568339-9074-6C4A-D517-B9FFDC8457EC}"/>
              </a:ext>
            </a:extLst>
          </p:cNvPr>
          <p:cNvSpPr txBox="1"/>
          <p:nvPr/>
        </p:nvSpPr>
        <p:spPr>
          <a:xfrm>
            <a:off x="2325790" y="2086560"/>
            <a:ext cx="60566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Supervisor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A02BC96F-002B-661E-7EDF-A594094F74A3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91259" y="1683460"/>
            <a:ext cx="6432" cy="665423"/>
          </a:xfrm>
          <a:prstGeom prst="bent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37A0A09-4FA4-1686-F830-4C7885BEFC6D}"/>
              </a:ext>
            </a:extLst>
          </p:cNvPr>
          <p:cNvSpPr txBox="1"/>
          <p:nvPr/>
        </p:nvSpPr>
        <p:spPr>
          <a:xfrm>
            <a:off x="1817055" y="1760099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Retry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DC43F25D-A9E9-A7AB-F8F8-B63B701F240B}"/>
              </a:ext>
            </a:extLst>
          </p:cNvPr>
          <p:cNvSpPr/>
          <p:nvPr/>
        </p:nvSpPr>
        <p:spPr>
          <a:xfrm>
            <a:off x="1631656" y="1793106"/>
            <a:ext cx="1297569" cy="594152"/>
          </a:xfrm>
          <a:prstGeom prst="roundRect">
            <a:avLst>
              <a:gd name="adj" fmla="val 8854"/>
            </a:avLst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F3C010B-958D-5D59-11A5-A578277ABE4D}"/>
              </a:ext>
            </a:extLst>
          </p:cNvPr>
          <p:cNvCxnSpPr>
            <a:cxnSpLocks/>
          </p:cNvCxnSpPr>
          <p:nvPr/>
        </p:nvCxnSpPr>
        <p:spPr>
          <a:xfrm>
            <a:off x="846891" y="2090532"/>
            <a:ext cx="138479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38C163A-BD05-228B-D20D-37BC77A3C35C}"/>
              </a:ext>
            </a:extLst>
          </p:cNvPr>
          <p:cNvCxnSpPr>
            <a:cxnSpLocks/>
          </p:cNvCxnSpPr>
          <p:nvPr/>
        </p:nvCxnSpPr>
        <p:spPr>
          <a:xfrm>
            <a:off x="1488222" y="2090532"/>
            <a:ext cx="11963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579DAB3-53F6-D72D-AA1F-749689ADEA0E}"/>
              </a:ext>
            </a:extLst>
          </p:cNvPr>
          <p:cNvCxnSpPr>
            <a:cxnSpLocks/>
          </p:cNvCxnSpPr>
          <p:nvPr/>
        </p:nvCxnSpPr>
        <p:spPr>
          <a:xfrm>
            <a:off x="2961567" y="2090532"/>
            <a:ext cx="10863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3DFD0DDD-940A-C74C-04AE-006828B25471}"/>
              </a:ext>
            </a:extLst>
          </p:cNvPr>
          <p:cNvSpPr txBox="1"/>
          <p:nvPr/>
        </p:nvSpPr>
        <p:spPr>
          <a:xfrm>
            <a:off x="2001998" y="1633309"/>
            <a:ext cx="55580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Executor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AB104-2CB6-095B-A10A-17E1E5F98FBB}"/>
              </a:ext>
            </a:extLst>
          </p:cNvPr>
          <p:cNvSpPr txBox="1"/>
          <p:nvPr/>
        </p:nvSpPr>
        <p:spPr>
          <a:xfrm>
            <a:off x="1484993" y="3350442"/>
            <a:ext cx="90553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Evals:408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19E4D45-7218-6088-0B59-C53D79E7A130}"/>
              </a:ext>
            </a:extLst>
          </p:cNvPr>
          <p:cNvSpPr/>
          <p:nvPr/>
        </p:nvSpPr>
        <p:spPr>
          <a:xfrm>
            <a:off x="2792052" y="4181861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AC7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0FDD7F-1D39-A5F5-B282-70F632E5B41F}"/>
              </a:ext>
            </a:extLst>
          </p:cNvPr>
          <p:cNvSpPr txBox="1"/>
          <p:nvPr/>
        </p:nvSpPr>
        <p:spPr>
          <a:xfrm>
            <a:off x="2798987" y="4225388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Naïve RAG baseline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8C10E38-655E-D80C-95C1-8A9AC099A61C}"/>
              </a:ext>
            </a:extLst>
          </p:cNvPr>
          <p:cNvSpPr txBox="1"/>
          <p:nvPr/>
        </p:nvSpPr>
        <p:spPr>
          <a:xfrm>
            <a:off x="2802316" y="4640074"/>
            <a:ext cx="91592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Evals:138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F3C759-007E-A1D6-5FE3-560889DA9579}"/>
              </a:ext>
            </a:extLst>
          </p:cNvPr>
          <p:cNvSpPr txBox="1"/>
          <p:nvPr/>
        </p:nvSpPr>
        <p:spPr>
          <a:xfrm>
            <a:off x="2849974" y="4321632"/>
            <a:ext cx="8223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Top-10 passages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 LLM call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138 questions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F1B7761-1EB1-1674-53C8-8C0F5FECE51F}"/>
              </a:ext>
            </a:extLst>
          </p:cNvPr>
          <p:cNvCxnSpPr>
            <a:cxnSpLocks/>
          </p:cNvCxnSpPr>
          <p:nvPr/>
        </p:nvCxnSpPr>
        <p:spPr>
          <a:xfrm>
            <a:off x="2426621" y="3173188"/>
            <a:ext cx="326128" cy="5437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2C14693-EE5B-731D-6E97-1E71AFF2DA0F}"/>
              </a:ext>
            </a:extLst>
          </p:cNvPr>
          <p:cNvCxnSpPr>
            <a:cxnSpLocks/>
          </p:cNvCxnSpPr>
          <p:nvPr/>
        </p:nvCxnSpPr>
        <p:spPr>
          <a:xfrm>
            <a:off x="2434952" y="3754186"/>
            <a:ext cx="3148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8447FE7-FCCA-943E-416D-1B7031F3257F}"/>
              </a:ext>
            </a:extLst>
          </p:cNvPr>
          <p:cNvCxnSpPr>
            <a:cxnSpLocks/>
          </p:cNvCxnSpPr>
          <p:nvPr/>
        </p:nvCxnSpPr>
        <p:spPr>
          <a:xfrm>
            <a:off x="2436691" y="3807311"/>
            <a:ext cx="326128" cy="5437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71CD532-EF05-E3BC-8B72-1CCC6F9FE963}"/>
              </a:ext>
            </a:extLst>
          </p:cNvPr>
          <p:cNvCxnSpPr>
            <a:cxnSpLocks/>
          </p:cNvCxnSpPr>
          <p:nvPr/>
        </p:nvCxnSpPr>
        <p:spPr>
          <a:xfrm>
            <a:off x="3744107" y="3779470"/>
            <a:ext cx="3322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466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FAEA8C-18B1-D14A-B258-72E3EB6DBC25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3bbd9ddc-6bf8-46a2-8eba-51a96774e5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</TotalTime>
  <Words>272</Words>
  <Application>Microsoft Macintosh PowerPoint</Application>
  <PresentationFormat>Custom</PresentationFormat>
  <Paragraphs>95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Bianchi, Valerio</dc:creator>
  <cp:lastModifiedBy>Bianchi, Valerio</cp:lastModifiedBy>
  <cp:revision>20</cp:revision>
  <dcterms:created xsi:type="dcterms:W3CDTF">2026-04-06T13:31:59Z</dcterms:created>
  <dcterms:modified xsi:type="dcterms:W3CDTF">2026-08-06T15:57:07Z</dcterms:modified>
</cp:coreProperties>
</file>